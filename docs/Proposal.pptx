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8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26880" y="640080"/>
            <a:ext cx="2011680" cy="7315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26880" y="868680"/>
            <a:ext cx="1371600" cy="73152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326880" y="1097280"/>
            <a:ext cx="2377440" cy="73152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850392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1CCD3"/>
                </a:solidFill>
                <a:latin typeface="Aptos"/>
              </a:defRPr>
            </a:pPr>
            <a:r>
              <a:rPr dirty="0"/>
              <a:t>GRADUATION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772400" cy="121571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rPr dirty="0"/>
              <a:t>EGX </a:t>
            </a:r>
            <a:r>
              <a:rPr lang="en-US" dirty="0"/>
              <a:t>Automated </a:t>
            </a:r>
            <a:r>
              <a:rPr dirty="0"/>
              <a:t>Market </a:t>
            </a:r>
            <a:endParaRPr lang="en-US" dirty="0"/>
          </a:p>
          <a:p>
            <a:pPr>
              <a:spcAft>
                <a:spcPts val="600"/>
              </a:spcAft>
              <a:defRPr sz="3400" b="1">
                <a:solidFill>
                  <a:srgbClr val="F8FAFC"/>
                </a:solidFill>
                <a:latin typeface="Aptos"/>
              </a:defRPr>
            </a:pPr>
            <a:r>
              <a:rPr dirty="0"/>
              <a:t>Data</a:t>
            </a:r>
            <a:r>
              <a:rPr lang="en-US" dirty="0"/>
              <a:t> </a:t>
            </a:r>
            <a:r>
              <a:rPr dirty="0"/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7132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E5EEF5"/>
                </a:solidFill>
                <a:latin typeface="Aptos"/>
              </a:defRPr>
            </a:pPr>
            <a:r>
              <a:rPr dirty="0"/>
              <a:t>An automated, quality-controlled data platform for Egyptian stock-market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7040880" cy="204671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Presented By:</a:t>
            </a:r>
          </a:p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Sara Ashraf</a:t>
            </a:r>
          </a:p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Malak Tamer</a:t>
            </a:r>
          </a:p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Malak Ahmed</a:t>
            </a:r>
          </a:p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Salma Sherif</a:t>
            </a:r>
          </a:p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Ziad Ragab</a:t>
            </a:r>
          </a:p>
          <a:p>
            <a:pPr>
              <a:spcAft>
                <a:spcPts val="600"/>
              </a:spcAft>
              <a:defRPr sz="1300" b="0">
                <a:solidFill>
                  <a:srgbClr val="96AABE"/>
                </a:solidFill>
                <a:latin typeface="Aptos"/>
              </a:defRPr>
            </a:pPr>
            <a:r>
              <a:rPr lang="en-US" sz="1400" dirty="0"/>
              <a:t>Saif Ramadan</a:t>
            </a:r>
            <a:endParaRPr sz="1400" dirty="0"/>
          </a:p>
        </p:txBody>
      </p:sp>
      <p:sp>
        <p:nvSpPr>
          <p:cNvPr id="11" name="Rectangle 10"/>
          <p:cNvSpPr/>
          <p:nvPr/>
        </p:nvSpPr>
        <p:spPr>
          <a:xfrm>
            <a:off x="9144000" y="4709160"/>
            <a:ext cx="173736" cy="7315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73184" y="4160520"/>
            <a:ext cx="173736" cy="1280160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02368" y="4526280"/>
            <a:ext cx="173736" cy="914400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131552" y="3520440"/>
            <a:ext cx="173736" cy="192024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60736" y="3886200"/>
            <a:ext cx="173736" cy="1554480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89920" y="2880360"/>
            <a:ext cx="173736" cy="2560320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19104" y="3337560"/>
            <a:ext cx="173736" cy="210312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48288" y="2331720"/>
            <a:ext cx="173736" cy="3108960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246BBD-283C-BEE2-FC25-E535E9A78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604" y="-80581"/>
            <a:ext cx="1685925" cy="8858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4E7F81-5196-3E0F-B629-9319DDD7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20" y="36576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/>
              <a:t>1.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What we intend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8FAFC"/>
                </a:solidFill>
                <a:latin typeface="Aptos"/>
              </a:defRPr>
            </a:pPr>
            <a:r>
              <a:rPr dirty="0"/>
              <a:t>Build a scheduled pipeline that turns raw Egyptian stock-market records into trusted, analysis-ready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3429000" cy="20116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468879"/>
            <a:ext cx="64008" cy="192024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56946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0088"/>
            <a:ext cx="3044952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Retrieve historical and, where supported, new market records from an approved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423160"/>
            <a:ext cx="3429000" cy="20116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468879"/>
            <a:ext cx="64008" cy="1920240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56946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90088"/>
            <a:ext cx="3044952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Preserve raw data, clean it reproducibly, and run explicit quality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423160"/>
            <a:ext cx="3429000" cy="20116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5008" y="2468879"/>
            <a:ext cx="64008" cy="1920240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256946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990088"/>
            <a:ext cx="3044952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Publish metrics, SQL views, charts, and summaries for researchers and analysts.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B32C06F-6360-6040-1D0F-B2ECDB27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897" y="-36530"/>
            <a:ext cx="1685925" cy="8858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BB02DF7-B1B2-5462-937C-B9ED82632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2. Problem and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Local use case: Egyptian Exchange (EGX)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356616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3474720"/>
          </a:xfrm>
          <a:prstGeom prst="rect">
            <a:avLst/>
          </a:prstGeom>
          <a:solidFill>
            <a:srgbClr val="D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PROBLEM TO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4828032" cy="29077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Market records may arrive in different formats or from separate sources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Manual cleaning and repeated calculations take time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Missing values, duplicates, and inconsistent timestamps can distort analysis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A one-time CSV download does not provide a monitored daily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356616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64008" cy="3474720"/>
          </a:xfrm>
          <a:prstGeom prst="rect">
            <a:avLst/>
          </a:prstGeom>
          <a:solidFill>
            <a:srgbClr val="45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8FAFC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84248"/>
            <a:ext cx="4828032" cy="29077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A repeatable ingestion process with retries and incremental loading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Raw-data retention plus standardized clean tables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Automated data-quality rules and audit logs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SQL analytics for returns, moving averages, volatility, and volume changes</a:t>
            </a:r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E5EEF5"/>
                </a:solidFill>
                <a:latin typeface="Aptos"/>
              </a:defRPr>
            </a:pPr>
            <a:r>
              <a:t>• Charts and a concise data-quality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0B446"/>
                </a:solidFill>
                <a:latin typeface="Aptos"/>
              </a:defRPr>
            </a:pPr>
            <a:r>
              <a:t>Important: the project will demonstrate the solution on real data; it will not claim to predict prices or guarantee investment returns.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61E0A6-18B4-29C0-7350-B17D8D131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355" y="15431"/>
            <a:ext cx="1685925" cy="8858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15B914-FFC1-E119-308D-6009F2A8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Target users and project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Designed for research and data reliability—not financial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874519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1783079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FINANCIAL RESEARCHERS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3044952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Compare historical performance, activity, and volatility across listed companies.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1874519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63040"/>
            <a:ext cx="64008" cy="1783079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636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STUDENTS &amp; EDUCATORS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044952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Explore real local market data through reproducible SQL queries and charts.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417320"/>
            <a:ext cx="3429000" cy="1874519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463040"/>
            <a:ext cx="64008" cy="1783079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15636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DATA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1984248"/>
            <a:ext cx="3044952" cy="1216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Inspect pipeline runs, record counts, and data-quality failures.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Final 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4846320" cy="9069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rPr dirty="0"/>
              <a:t>•  Automated Airflow DAG and Python modules</a:t>
            </a:r>
          </a:p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rPr dirty="0"/>
              <a:t>•  SQL</a:t>
            </a:r>
            <a:r>
              <a:rPr lang="en-US" dirty="0"/>
              <a:t> Server</a:t>
            </a:r>
            <a:r>
              <a:rPr dirty="0"/>
              <a:t> schema, ERD, and data dictionary</a:t>
            </a:r>
          </a:p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rPr dirty="0"/>
              <a:t>•  Test suite and data-quality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297680"/>
            <a:ext cx="5212080" cy="1554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t>•  10–12 analytical SQL queries and views</a:t>
            </a:r>
          </a:p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t>•  Time-series charts and findings summary</a:t>
            </a:r>
          </a:p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t>•  README, architecture diagram, and live demo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6AC957-F4EB-2477-30BB-3B1B977C5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604" y="-21790"/>
            <a:ext cx="1685925" cy="8858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4FE4CC-B557-8988-3A30-513233D1E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dirty="0"/>
              <a:t>3.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Each tool has a clear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64008" cy="84124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72184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Python +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7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API ingestion, retries,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64008" cy="841248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472184"/>
            <a:ext cx="48920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rPr lang="en-US" dirty="0"/>
              <a:t>Spark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556248" y="1892807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Profiling, type conversion, deduplication,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487168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532887"/>
            <a:ext cx="64008" cy="841248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2633472"/>
            <a:ext cx="48920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rPr dirty="0"/>
              <a:t>SQL</a:t>
            </a:r>
            <a:r>
              <a:rPr lang="en-US" dirty="0"/>
              <a:t> Server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32688" y="3054096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Raw JSONB, clean records, metrics, audit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487168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532887"/>
            <a:ext cx="64008" cy="841248"/>
          </a:xfrm>
          <a:prstGeom prst="rect">
            <a:avLst/>
          </a:prstGeom>
          <a:solidFill>
            <a:srgbClr val="45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263347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Apache Airflow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054096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Scheduling, dependencies, retries, run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48456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694176"/>
            <a:ext cx="64008" cy="841248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3794760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15384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CTEs, LAG, window functions, ranking,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648456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3694176"/>
            <a:ext cx="64008" cy="841248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3794760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Docker Compose +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215384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Repeatable setup, collaboration, code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09744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855464"/>
            <a:ext cx="64008" cy="841248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495604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Matplotlib / Plotly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376672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Price, return, volume, and volatility charts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809744"/>
            <a:ext cx="5257800" cy="932688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855464"/>
            <a:ext cx="64008" cy="841248"/>
          </a:xfrm>
          <a:prstGeom prst="rect">
            <a:avLst/>
          </a:prstGeom>
          <a:solidFill>
            <a:srgbClr val="96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56248" y="4956048"/>
            <a:ext cx="48920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rPr dirty="0"/>
              <a:t>MongoDB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5376672"/>
            <a:ext cx="48737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Original JSON document store if needed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6419C17-497F-D680-8A1D-246EB338C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037" y="54329"/>
            <a:ext cx="1685925" cy="8858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A59213A-D70D-2466-469F-0F52A8F94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4. Data architecture and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3806758-AC63-4B89-4B32-44EFE78E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755" y="36268"/>
            <a:ext cx="1685925" cy="8858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C750B57-A2A0-32C0-36B3-FB676DEA4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1FCFB9-D719-9424-3DDE-D868C902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733" y="1106424"/>
            <a:ext cx="8375968" cy="5583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5. Data profiling and engineering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These are checks to run on the real sample—not claimed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148840" cy="438912"/>
          </a:xfrm>
          <a:prstGeom prst="rect">
            <a:avLst/>
          </a:prstGeom>
          <a:solidFill>
            <a:srgbClr val="009A9A"/>
          </a:solidFill>
          <a:ln>
            <a:solidFill>
              <a:srgbClr val="10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408176"/>
            <a:ext cx="200253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Potential issue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25880"/>
            <a:ext cx="3337560" cy="438912"/>
          </a:xfrm>
          <a:prstGeom prst="rect">
            <a:avLst/>
          </a:prstGeom>
          <a:solidFill>
            <a:srgbClr val="009A9A"/>
          </a:solidFill>
          <a:ln>
            <a:solidFill>
              <a:srgbClr val="10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1408176"/>
            <a:ext cx="319125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How to detect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5486400" cy="438912"/>
          </a:xfrm>
          <a:prstGeom prst="rect">
            <a:avLst/>
          </a:prstGeom>
          <a:solidFill>
            <a:srgbClr val="009A9A"/>
          </a:solidFill>
          <a:ln>
            <a:solidFill>
              <a:srgbClr val="10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1408176"/>
            <a:ext cx="53400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Engineering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87652"/>
            <a:ext cx="214884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1764792"/>
            <a:ext cx="333756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764792"/>
            <a:ext cx="548640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386584"/>
            <a:ext cx="214884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441448"/>
            <a:ext cx="200253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Missing values /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386584"/>
            <a:ext cx="333756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16352" y="2441448"/>
            <a:ext cx="319125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Null counts; compare expected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386584"/>
            <a:ext cx="548640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53912" y="2441448"/>
            <a:ext cx="53400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Flag gaps; distinguish holidays from missing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008376"/>
            <a:ext cx="214884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3063240"/>
            <a:ext cx="200253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rPr dirty="0"/>
              <a:t>Duplicate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008376"/>
            <a:ext cx="333756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16352" y="3063240"/>
            <a:ext cx="319125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Duplicate symbol + timestamp keys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008376"/>
            <a:ext cx="548640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3912" y="3063240"/>
            <a:ext cx="53400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Deduplicate by documented rule; enforce unique constraint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630168"/>
            <a:ext cx="214884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3685031"/>
            <a:ext cx="200253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Wrong data types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630168"/>
            <a:ext cx="333756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16352" y="3685031"/>
            <a:ext cx="319125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Inspect schema and parse failures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630168"/>
            <a:ext cx="548640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53912" y="3685031"/>
            <a:ext cx="53400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Convert numeric strings; parse timestamps with explicit timezone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251960"/>
            <a:ext cx="214884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" y="4306824"/>
            <a:ext cx="200253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Invalid prices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251960"/>
            <a:ext cx="333756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16352" y="4306824"/>
            <a:ext cx="319125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Negative/zero values; high &lt; low; low &gt; 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251960"/>
            <a:ext cx="5486400" cy="621792"/>
          </a:xfrm>
          <a:prstGeom prst="rect">
            <a:avLst/>
          </a:prstGeom>
          <a:solidFill>
            <a:srgbClr val="182C45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3912" y="4306824"/>
            <a:ext cx="53400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Quarantine invalid rows; log reasons; never silently discard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873752"/>
            <a:ext cx="214884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4928616"/>
            <a:ext cx="200253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Outliers / volume spikes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4873752"/>
            <a:ext cx="333756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16352" y="4928616"/>
            <a:ext cx="319125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Range checks; robust statistical thresholds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873752"/>
            <a:ext cx="5486400" cy="621792"/>
          </a:xfrm>
          <a:prstGeom prst="rect">
            <a:avLst/>
          </a:prstGeom>
          <a:solidFill>
            <a:srgbClr val="1E334B"/>
          </a:solidFill>
          <a:ln>
            <a:solidFill>
              <a:srgbClr val="36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53912" y="4928616"/>
            <a:ext cx="53400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t>Flag for review; keep valid market events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" y="1804797"/>
            <a:ext cx="200253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  <a:latin typeface="Aptos"/>
              </a:defRPr>
            </a:pPr>
            <a:r>
              <a:t>Late / repeated loads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16352" y="1787652"/>
            <a:ext cx="319125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rPr dirty="0"/>
              <a:t>Compare max timestamp and run 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3912" y="1746504"/>
            <a:ext cx="534009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E5EEF5"/>
                </a:solidFill>
                <a:latin typeface="Aptos"/>
              </a:defRPr>
            </a:pPr>
            <a:r>
              <a:rPr dirty="0"/>
              <a:t>Incremental extraction; idempotent </a:t>
            </a:r>
            <a:r>
              <a:rPr dirty="0" err="1"/>
              <a:t>upsert</a:t>
            </a:r>
            <a:r>
              <a:rPr dirty="0"/>
              <a:t>; track freshness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4A10307E-CC81-0F72-87D7-F271BE559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604" y="20003"/>
            <a:ext cx="1685925" cy="88582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997C7C5-EB73-DB40-187E-F39926B90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What will the data help us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Examples of analysis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rPr lang="en-US" dirty="0"/>
              <a:t>08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1737360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3044952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Daily return, cumulative return, monthly ranking, moving averages.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63040"/>
            <a:ext cx="64008" cy="1737360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636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RISK / VOLATILITY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84248"/>
            <a:ext cx="3044952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Rolling volatility, maximum drawdown, unusually large price moves.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417320"/>
            <a:ext cx="3429000" cy="182880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463040"/>
            <a:ext cx="64008" cy="1737360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156362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TRADING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1984248"/>
            <a:ext cx="3044952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Volume spikes, turnover trends, records with unusual activity.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Validation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515600" cy="1371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t>•  Cross-check selected metrics computed in Pandas against SQL results.</a:t>
            </a:r>
          </a:p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t>•  Test formulas on a small hand-calculated sample before scaling up.</a:t>
            </a:r>
          </a:p>
          <a:p>
            <a:pPr>
              <a:spcAft>
                <a:spcPts val="800"/>
              </a:spcAft>
              <a:defRPr sz="1400">
                <a:solidFill>
                  <a:srgbClr val="E5EEF5"/>
                </a:solidFill>
                <a:latin typeface="Aptos"/>
              </a:defRPr>
            </a:pPr>
            <a:r>
              <a:t>•  Describe the outputs as historical analysis, not guaranteed predictions or investment recommendations.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5FECC35-5FE4-8266-252C-B2801094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604" y="137659"/>
            <a:ext cx="1685925" cy="8858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B218CF3-5345-8B61-CF6B-4E59A3C2E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6. Six-week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Adapted from the team's existing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rPr lang="en-US" dirty="0"/>
              <a:t>09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691640" cy="2240280"/>
          </a:xfrm>
          <a:prstGeom prst="roundRect">
            <a:avLst/>
          </a:prstGeom>
          <a:solidFill>
            <a:srgbClr val="182C45"/>
          </a:solidFill>
          <a:ln>
            <a:solidFill>
              <a:srgbClr val="0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057400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9A9A"/>
                </a:solidFill>
                <a:latin typeface="Aptos"/>
              </a:defRPr>
            </a:pPr>
            <a: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97480"/>
            <a:ext cx="1444752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Validate data source + license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Agree schema; sample profiling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265176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96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74519"/>
            <a:ext cx="1691640" cy="2240280"/>
          </a:xfrm>
          <a:prstGeom prst="roundRect">
            <a:avLst/>
          </a:prstGeom>
          <a:solidFill>
            <a:srgbClr val="182C45"/>
          </a:solidFill>
          <a:ln>
            <a:solidFill>
              <a:srgbClr val="51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2057400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51CCD3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1" y="2697480"/>
            <a:ext cx="1444752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Build ingestion, raw tables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t>Cleaning rules + unit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65176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96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874519"/>
            <a:ext cx="1691640" cy="2240280"/>
          </a:xfrm>
          <a:prstGeom prst="roundRect">
            <a:avLst/>
          </a:prstGeom>
          <a:solidFill>
            <a:srgbClr val="182C45"/>
          </a:solidFill>
          <a:ln>
            <a:solidFill>
              <a:srgbClr val="F0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2057400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0B446"/>
                </a:solidFill>
                <a:latin typeface="Aptos"/>
              </a:defRPr>
            </a:pPr>
            <a:r>
              <a:t>W3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697480"/>
            <a:ext cx="1444752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Connect end-to-end flow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Incremental load +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65176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96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74519"/>
            <a:ext cx="1691640" cy="2240280"/>
          </a:xfrm>
          <a:prstGeom prst="roundRect">
            <a:avLst/>
          </a:prstGeom>
          <a:solidFill>
            <a:srgbClr val="182C45"/>
          </a:solidFill>
          <a:ln>
            <a:solidFill>
              <a:srgbClr val="45A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057400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45AA7D"/>
                </a:solidFill>
                <a:latin typeface="Aptos"/>
              </a:defRPr>
            </a:pPr>
            <a:r>
              <a:t>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697480"/>
            <a:ext cx="1444752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Schedule Airflow DAG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Retries, logs, SQL query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65176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96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874519"/>
            <a:ext cx="1691640" cy="2240280"/>
          </a:xfrm>
          <a:prstGeom prst="roundRect">
            <a:avLst/>
          </a:prstGeom>
          <a:solidFill>
            <a:srgbClr val="182C45"/>
          </a:solidFill>
          <a:ln>
            <a:solidFill>
              <a:srgbClr val="0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7" y="2057400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9A9A"/>
                </a:solidFill>
                <a:latin typeface="Aptos"/>
              </a:defRPr>
            </a:pPr>
            <a:r>
              <a:t>W5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697480"/>
            <a:ext cx="1444752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Data-quality report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Cross-checks + failure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3536" y="2651760"/>
            <a:ext cx="228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96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1874519"/>
            <a:ext cx="1691640" cy="2240280"/>
          </a:xfrm>
          <a:prstGeom prst="roundRect">
            <a:avLst/>
          </a:prstGeom>
          <a:solidFill>
            <a:srgbClr val="182C45"/>
          </a:solidFill>
          <a:ln>
            <a:solidFill>
              <a:srgbClr val="51C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51007" y="2057400"/>
            <a:ext cx="1463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51CCD3"/>
                </a:solidFill>
                <a:latin typeface="Aptos"/>
              </a:defRPr>
            </a:pPr>
            <a:r>
              <a:t>W6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2697480"/>
            <a:ext cx="1444752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Finalize docs and charts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E5EEF5"/>
                </a:solidFill>
                <a:latin typeface="Aptos"/>
              </a:defRPr>
            </a:pPr>
            <a:r>
              <a:rPr dirty="0"/>
              <a:t>Fresh-clone demo + presentation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83857EB-99A1-388F-64BC-3E0C94180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604" y="23432"/>
            <a:ext cx="1685925" cy="8858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2E484F-2896-F768-BAB0-55AB8A866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Team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Six owners, one integrated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74720" cy="15544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64008" cy="1463039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M1  |  Project lead &amp;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3090672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dirty="0"/>
              <a:t>Airflow DAG, Docker, logging, integration</a:t>
            </a:r>
            <a:endParaRPr lang="en-US" dirty="0"/>
          </a:p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(Airflow DAG file, Docker Compose setup, logging config, architecture diagram, release tag, final demo run)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474720" cy="15544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63040"/>
            <a:ext cx="64008" cy="1463039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63624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M2  |  API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84248"/>
            <a:ext cx="3090672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dirty="0"/>
              <a:t>Extraction, validation, retry, incremental/backfill</a:t>
            </a:r>
            <a:endParaRPr lang="en-US" dirty="0"/>
          </a:p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(Extraction module with validation, retry logic, incremental and backfill modes, unit tests, MongoDB loader, ingestion README section)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474720" cy="15544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463040"/>
            <a:ext cx="64008" cy="1463039"/>
          </a:xfrm>
          <a:prstGeom prst="rect">
            <a:avLst/>
          </a:prstGeom>
          <a:solidFill>
            <a:srgbClr val="F0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563624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M3  |  Database 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984248"/>
            <a:ext cx="3090672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SQL Server design and loading</a:t>
            </a:r>
          </a:p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(DDL,ERD,INDEXES,UPSERT,DATA DICTIONARY)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85800" y="3383280"/>
            <a:ext cx="3474720" cy="15544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429000"/>
            <a:ext cx="64008" cy="1463039"/>
          </a:xfrm>
          <a:prstGeom prst="rect">
            <a:avLst/>
          </a:prstGeom>
          <a:solidFill>
            <a:srgbClr val="45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529584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M4  | 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950208"/>
            <a:ext cx="3090672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Turning raw JSON into clean tables and metrics</a:t>
            </a:r>
          </a:p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(Cleaning module, metrics module (returns, moving averages, volume stats, volatility), unit tests, transformation notes)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4480560" y="3383280"/>
            <a:ext cx="3474720" cy="15544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429000"/>
            <a:ext cx="64008" cy="1463039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529584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M5  |  SQL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950208"/>
            <a:ext cx="3090672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Analysis inside the database</a:t>
            </a:r>
          </a:p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(10 -12 queries with window functions and CTEs, SQL views, cross-check report, analytical findings summary)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8275320" y="3383280"/>
            <a:ext cx="3474720" cy="155448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429000"/>
            <a:ext cx="64008" cy="1463039"/>
          </a:xfrm>
          <a:prstGeom prst="rect">
            <a:avLst/>
          </a:prstGeom>
          <a:solidFill>
            <a:srgbClr val="51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3529584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M6  |  Data quality &amp; visualization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950208"/>
            <a:ext cx="3090672" cy="8463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Trust in the data and how it looks</a:t>
            </a:r>
          </a:p>
          <a:p>
            <a:pPr>
              <a:spcAft>
                <a:spcPts val="600"/>
              </a:spcAft>
              <a:defRPr sz="1100" b="0">
                <a:solidFill>
                  <a:srgbClr val="E5EEF5"/>
                </a:solidFill>
                <a:latin typeface="Aptos"/>
              </a:defRPr>
            </a:pPr>
            <a:r>
              <a:rPr lang="en-US" dirty="0"/>
              <a:t>(Quality-check functions, </a:t>
            </a:r>
            <a:r>
              <a:rPr lang="en-US" dirty="0" err="1"/>
              <a:t>dq_results</a:t>
            </a:r>
            <a:r>
              <a:rPr lang="en-US" dirty="0"/>
              <a:t> table, data-quality report (PDF), time series charts, test plan, final README, slides)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2578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rPr dirty="0"/>
              <a:t>Use Git branches, pull requests, weekly notes, and test evidence so each member can defend their contribution.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E69FAC-E4A2-1D29-039F-539195B95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075" y="67862"/>
            <a:ext cx="1685925" cy="8858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510F57-D07B-FCF9-22F8-F69E6AFEE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t>Feasibility, risks, and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77240" cy="50292"/>
          </a:xfrm>
          <a:prstGeom prst="rect">
            <a:avLst/>
          </a:prstGeom>
          <a:solidFill>
            <a:srgbClr val="00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760" y="850392"/>
            <a:ext cx="9875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96AABE"/>
                </a:solidFill>
                <a:latin typeface="Aptos"/>
              </a:defRPr>
            </a:pPr>
            <a:r>
              <a:t>What we must confirm before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12080" cy="333756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3246120"/>
          </a:xfrm>
          <a:prstGeom prst="rect">
            <a:avLst/>
          </a:prstGeom>
          <a:solidFill>
            <a:srgbClr val="D2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1790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38528"/>
            <a:ext cx="4828032" cy="2679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EGX historical or intraday data may require payment or permission</a:t>
            </a:r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API may not cover all tickers or the required history</a:t>
            </a:r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Free request quotas may prevent large backfills</a:t>
            </a:r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Intraday volume increases storage and testing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12080" cy="3337560"/>
          </a:xfrm>
          <a:prstGeom prst="roundRect">
            <a:avLst/>
          </a:prstGeom>
          <a:solidFill>
            <a:srgbClr val="182C45"/>
          </a:solidFill>
          <a:ln>
            <a:solidFill>
              <a:srgbClr val="30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3246120"/>
          </a:xfrm>
          <a:prstGeom prst="rect">
            <a:avLst/>
          </a:prstGeom>
          <a:solidFill>
            <a:srgbClr val="45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17904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MITIGATIONS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38528"/>
            <a:ext cx="4828032" cy="2679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Ask for educational access or a sample file first</a:t>
            </a:r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Start with a small pilot; record the exact source and license</a:t>
            </a:r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Cache responses, use incremental loads, retry with backoff</a:t>
            </a:r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endParaRPr/>
          </a:p>
          <a:p>
            <a:pPr>
              <a:spcAft>
                <a:spcPts val="600"/>
              </a:spcAft>
              <a:defRPr sz="1300" b="0">
                <a:solidFill>
                  <a:srgbClr val="E5EEF5"/>
                </a:solidFill>
                <a:latin typeface="Aptos"/>
              </a:defRPr>
            </a:pPr>
            <a:r>
              <a:t>• Use daily history as fallback, but agree with instructor whether its scale qualifies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210B3A-EBD7-A2D6-0ABE-7AB7D091E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317" y="81153"/>
            <a:ext cx="1685925" cy="8858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37CC96-97C2-E52B-7A05-1FBDCAAB5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8187" y="2611699"/>
            <a:ext cx="11945983" cy="9233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8FAFC"/>
                </a:solidFill>
                <a:latin typeface="Aptos"/>
              </a:defRPr>
            </a:pPr>
            <a:r>
              <a:rPr lang="en-US" sz="5400" dirty="0">
                <a:latin typeface="Cooper Black" panose="0208090404030B020404" pitchFamily="18" charset="0"/>
              </a:rPr>
              <a:t>THANK YOU</a:t>
            </a:r>
            <a:endParaRPr sz="5400" dirty="0">
              <a:latin typeface="Cooper Black" panose="0208090404030B0204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96AABE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BA6397-A04C-8E93-DA02-28ECFC50A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246" y="153216"/>
            <a:ext cx="1685925" cy="8858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77FF1A-DA02-5FF8-8068-D45F2A150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9" y="5972175"/>
            <a:ext cx="9144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7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1086</Words>
  <Application>Microsoft Office PowerPoint</Application>
  <PresentationFormat>Widescreen</PresentationFormat>
  <Paragraphs>187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SaraAshraf</dc:creator>
  <cp:keywords/>
  <dc:description>generated using python-pptx</dc:description>
  <cp:lastModifiedBy>Sara Ashraf Mansour Mohamed</cp:lastModifiedBy>
  <cp:revision>3</cp:revision>
  <dcterms:created xsi:type="dcterms:W3CDTF">2013-01-27T09:14:16Z</dcterms:created>
  <dcterms:modified xsi:type="dcterms:W3CDTF">2026-10-19T17:25:42Z</dcterms:modified>
  <cp:category/>
</cp:coreProperties>
</file>